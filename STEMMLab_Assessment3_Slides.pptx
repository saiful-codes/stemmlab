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A4C4"/>
    <a:srgbClr val="668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009" autoAdjust="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2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5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097280"/>
            <a:ext cx="4572000" cy="4572000"/>
          </a:xfrm>
          <a:prstGeom prst="ellipse">
            <a:avLst/>
          </a:prstGeom>
          <a:solidFill>
            <a:srgbClr val="081525"/>
          </a:solidFill>
          <a:ln w="12700">
            <a:solidFill>
              <a:srgbClr val="081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377440"/>
            <a:ext cx="2926080" cy="2926080"/>
          </a:xfrm>
          <a:prstGeom prst="ellipse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640080"/>
            <a:ext cx="2011680" cy="2011680"/>
          </a:xfrm>
          <a:prstGeom prst="ellipse">
            <a:avLst/>
          </a:prstGeom>
          <a:solidFill>
            <a:srgbClr val="0D2540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13232"/>
            <a:ext cx="59436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685800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3  ·  MOBILE APPLICATION DEVELOPMENT  ·  LA TROBE UNIVERSITY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9264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STEMMLab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Feature Analysis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5120640" cy="20117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Native (Expo) app that transforms real-world physical activities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gamified STEMM learning experiences for school students.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9300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34930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Translation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60904" y="349300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15768" y="34930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27448" y="349300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82312" y="34930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Charts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709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Saiful Islam Shihab  ·  Student ID-21732977  ·  La Trobe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AEC4E20-04E0-DC8D-CF08-715C940E5210}"/>
              </a:ext>
            </a:extLst>
          </p:cNvPr>
          <p:cNvSpPr/>
          <p:nvPr/>
        </p:nvSpPr>
        <p:spPr>
          <a:xfrm>
            <a:off x="397764" y="674106"/>
            <a:ext cx="864698" cy="12541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7764" y="716566"/>
            <a:ext cx="8202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New Features Implemented</a:t>
            </a:r>
            <a:endParaRPr lang="en-US" sz="21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677AC2-E71D-9559-BE15-037545645BCD}"/>
              </a:ext>
            </a:extLst>
          </p:cNvPr>
          <p:cNvGrpSpPr/>
          <p:nvPr/>
        </p:nvGrpSpPr>
        <p:grpSpPr>
          <a:xfrm>
            <a:off x="397764" y="1304052"/>
            <a:ext cx="8348472" cy="2989498"/>
            <a:chOff x="384048" y="649224"/>
            <a:chExt cx="8348472" cy="2989498"/>
          </a:xfrm>
        </p:grpSpPr>
        <p:sp>
          <p:nvSpPr>
            <p:cNvPr id="5" name="Shape 3"/>
            <p:cNvSpPr/>
            <p:nvPr/>
          </p:nvSpPr>
          <p:spPr>
            <a:xfrm>
              <a:off x="411480" y="649224"/>
              <a:ext cx="8321040" cy="14630"/>
            </a:xfrm>
            <a:prstGeom prst="rect">
              <a:avLst/>
            </a:prstGeom>
            <a:solidFill>
              <a:srgbClr val="1B3252"/>
            </a:solidFill>
            <a:ln w="12700">
              <a:solidFill>
                <a:srgbClr val="1B32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758951"/>
              <a:ext cx="2633472" cy="2879771"/>
            </a:xfrm>
            <a:prstGeom prst="rect">
              <a:avLst/>
            </a:prstGeom>
            <a:solidFill>
              <a:srgbClr val="112235"/>
            </a:solidFill>
            <a:ln w="12700">
              <a:solidFill>
                <a:srgbClr val="3B82F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758952"/>
              <a:ext cx="2633472" cy="4389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" y="850392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01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" y="1252728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F6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Multi-Language Translation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12064" y="1801368"/>
              <a:ext cx="2377440" cy="14630"/>
            </a:xfrm>
            <a:prstGeom prst="rect">
              <a:avLst/>
            </a:prstGeom>
            <a:solidFill>
              <a:srgbClr val="1B3252"/>
            </a:solidFill>
            <a:ln w="12700">
              <a:solidFill>
                <a:srgbClr val="1B32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12064" y="1856232"/>
              <a:ext cx="2377440" cy="171998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Switches entire app UI between English, Spanish, Arabic, and Chinese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TypeScript i18n system — no external API or internet required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Language preference persists via AsyncStorage across sessions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100+ translation keys covering every screen in the app</a:t>
              </a:r>
              <a:endParaRPr lang="en-US" sz="950" dirty="0"/>
            </a:p>
          </p:txBody>
        </p:sp>
        <p:pic>
          <p:nvPicPr>
            <p:cNvPr id="12" name="Image 0" descr="/sessions/fervent-tender-ptolemy/mnt/outputs/code_imgs/s02_pkg0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064" y="3334316"/>
              <a:ext cx="2377440" cy="292608"/>
            </a:xfrm>
            <a:prstGeom prst="rect">
              <a:avLst/>
            </a:prstGeom>
          </p:spPr>
        </p:pic>
        <p:sp>
          <p:nvSpPr>
            <p:cNvPr id="13" name="Shape 10"/>
            <p:cNvSpPr/>
            <p:nvPr/>
          </p:nvSpPr>
          <p:spPr>
            <a:xfrm>
              <a:off x="3182112" y="758952"/>
              <a:ext cx="2633472" cy="2879770"/>
            </a:xfrm>
            <a:prstGeom prst="rect">
              <a:avLst/>
            </a:prstGeom>
            <a:solidFill>
              <a:srgbClr val="112235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3182112" y="758952"/>
              <a:ext cx="2633472" cy="43891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3310128" y="850392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7C3AED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310128" y="1252728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F6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Text-to-Speech (TTS)</a:t>
              </a:r>
              <a:endParaRPr lang="en-US" sz="12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3310128" y="1801368"/>
              <a:ext cx="2377440" cy="14630"/>
            </a:xfrm>
            <a:prstGeom prst="rect">
              <a:avLst/>
            </a:prstGeom>
            <a:solidFill>
              <a:srgbClr val="1B3252"/>
            </a:solidFill>
            <a:ln w="12700">
              <a:solidFill>
                <a:srgbClr val="1B32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3310128" y="1856232"/>
              <a:ext cx="2377440" cy="171287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"Read Aloud" toggle button on every Activity Detail screen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Reads full content: title, instructions, objectives, tags, and more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Language-aware — speaks in the user's currently selected language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Fully on-device using native OS speech synthesis APIs</a:t>
              </a:r>
              <a:endParaRPr lang="en-US" sz="950" dirty="0"/>
            </a:p>
          </p:txBody>
        </p:sp>
        <p:pic>
          <p:nvPicPr>
            <p:cNvPr id="19" name="Image 1" descr="/sessions/fervent-tender-ptolemy/mnt/outputs/code_imgs/s02_pkg0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3668" y="3327503"/>
              <a:ext cx="2377440" cy="292608"/>
            </a:xfrm>
            <a:prstGeom prst="rect">
              <a:avLst/>
            </a:prstGeom>
          </p:spPr>
        </p:pic>
        <p:sp>
          <p:nvSpPr>
            <p:cNvPr id="20" name="Shape 16"/>
            <p:cNvSpPr/>
            <p:nvPr/>
          </p:nvSpPr>
          <p:spPr>
            <a:xfrm>
              <a:off x="5980176" y="758952"/>
              <a:ext cx="2633472" cy="2879770"/>
            </a:xfrm>
            <a:prstGeom prst="rect">
              <a:avLst/>
            </a:prstGeom>
            <a:solidFill>
              <a:srgbClr val="112235"/>
            </a:solidFill>
            <a:ln w="12700">
              <a:solidFill>
                <a:srgbClr val="10B981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7"/>
            <p:cNvSpPr/>
            <p:nvPr/>
          </p:nvSpPr>
          <p:spPr>
            <a:xfrm>
              <a:off x="5980176" y="758952"/>
              <a:ext cx="2633472" cy="43891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/>
            <p:cNvSpPr/>
            <p:nvPr/>
          </p:nvSpPr>
          <p:spPr>
            <a:xfrm>
              <a:off x="6108192" y="850392"/>
              <a:ext cx="502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0B98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23" name="Text 19"/>
            <p:cNvSpPr/>
            <p:nvPr/>
          </p:nvSpPr>
          <p:spPr>
            <a:xfrm>
              <a:off x="6108192" y="1252728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F6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Performance Charts</a:t>
              </a:r>
              <a:endParaRPr lang="en-US" sz="1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6108192" y="1801368"/>
              <a:ext cx="2377440" cy="14630"/>
            </a:xfrm>
            <a:prstGeom prst="rect">
              <a:avLst/>
            </a:prstGeom>
            <a:solidFill>
              <a:srgbClr val="1B3252"/>
            </a:solidFill>
            <a:ln w="12700">
              <a:solidFill>
                <a:srgbClr val="1B32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1"/>
            <p:cNvSpPr/>
            <p:nvPr/>
          </p:nvSpPr>
          <p:spPr>
            <a:xfrm>
              <a:off x="6108192" y="1856232"/>
              <a:ext cx="2377440" cy="171287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Animated bar charts on the History screen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Two modes: attempt overview across activities, or trend per activity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Shows whether student performance is improving over time</a:t>
              </a:r>
              <a:endParaRPr lang="en-US" sz="950" dirty="0"/>
            </a:p>
            <a:p>
              <a:pPr marL="342900" indent="-342900">
                <a:buSzPct val="100000"/>
                <a:buChar char="•"/>
              </a:pPr>
              <a:r>
                <a:rPr lang="en-US" sz="950" dirty="0">
                  <a:solidFill>
                    <a:srgbClr val="7BA4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Respects app theme — dark mode and font scale settings</a:t>
              </a:r>
              <a:endParaRPr lang="en-US" sz="950" dirty="0"/>
            </a:p>
          </p:txBody>
        </p:sp>
        <p:pic>
          <p:nvPicPr>
            <p:cNvPr id="26" name="Image 2" descr="/sessions/fervent-tender-ptolemy/mnt/outputs/code_imgs/s02_pkg0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192" y="3330483"/>
              <a:ext cx="2377440" cy="292608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6325129-A48F-49F5-3CCA-75DCD7A99B92}"/>
              </a:ext>
            </a:extLst>
          </p:cNvPr>
          <p:cNvSpPr txBox="1"/>
          <p:nvPr/>
        </p:nvSpPr>
        <p:spPr>
          <a:xfrm>
            <a:off x="330617" y="621468"/>
            <a:ext cx="998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7BA4C4"/>
                </a:solidFill>
                <a:latin typeface="Trebuchet MS" panose="020B0603020202020204" pitchFamily="34" charset="0"/>
              </a:rPr>
              <a:t>Feature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1: Multi-Language Translation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069848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app UI switches between 4 languages — English, Spanish, Arabic, and Chinese. Every element updates instantly: tab labels, headings, activity titles, buttons, alerts, and all instructional content. The selected language is saved via AsyncStorage and persists across app restarts.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English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18488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4208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Español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25496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71216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 العربية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32504" y="19385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78224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  中文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3682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682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IS NEEDED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688336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STEMMLab targets primary and high school students from diverse backgrounds. An English-only app creates direct barriers for: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48006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EAL (English as an Additional Language) learners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non-English-speaking families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multicultural Australian classrooms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0965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or paid translation API required — fully offline.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45628" y="870508"/>
            <a:ext cx="2690949" cy="3727618"/>
          </a:xfrm>
          <a:prstGeom prst="rect">
            <a:avLst/>
          </a:prstGeom>
          <a:solidFill>
            <a:srgbClr val="0C1E30"/>
          </a:solidFill>
          <a:ln w="1905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0562" y="848106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00562" y="848106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26265" y="826616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45721" y="826616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DBFD9EE-98CF-8098-3B44-C952B023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6" b="30791"/>
          <a:stretch>
            <a:fillRect/>
          </a:stretch>
        </p:blipFill>
        <p:spPr>
          <a:xfrm>
            <a:off x="5980176" y="977231"/>
            <a:ext cx="2423160" cy="3514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1: Installation &amp;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3977640" cy="384048"/>
          </a:xfrm>
          <a:prstGeom prst="rect">
            <a:avLst/>
          </a:prstGeom>
          <a:solidFill>
            <a:srgbClr val="070F1A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5029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49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library — custom TypeScript i18n 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25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translations.ts — language type &amp; dictionary structure</a:t>
            </a:r>
            <a:endParaRPr lang="en-US" sz="800" dirty="0"/>
          </a:p>
        </p:txBody>
      </p:sp>
      <p:pic>
        <p:nvPicPr>
          <p:cNvPr id="10" name="Image 0" descr="/sessions/fervent-tender-ptolemy/mnt/outputs/code_imgs/s04_co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3977640" cy="1874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4107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translations in any screen:</a:t>
            </a:r>
            <a:endParaRPr lang="en-US" sz="800" dirty="0"/>
          </a:p>
        </p:txBody>
      </p:sp>
      <p:pic>
        <p:nvPicPr>
          <p:cNvPr id="12" name="Image 1" descr="/sessions/fervent-tender-ptolemy/mnt/outputs/code_imgs/s04_co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630168"/>
            <a:ext cx="3817620" cy="7635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749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FLOW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617720" y="987552"/>
            <a:ext cx="1325880" cy="777240"/>
          </a:xfrm>
          <a:prstGeom prst="rect">
            <a:avLst/>
          </a:prstGeom>
          <a:solidFill>
            <a:srgbClr val="11223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17720" y="987552"/>
            <a:ext cx="132588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90872" y="1033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F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translations.ts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90872" y="13075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langs × 100+ keys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943600" y="11887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A4C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99048" y="987552"/>
            <a:ext cx="1325880" cy="777240"/>
          </a:xfrm>
          <a:prstGeom prst="rect">
            <a:avLst/>
          </a:prstGeom>
          <a:solidFill>
            <a:srgbClr val="1122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099048" y="987552"/>
            <a:ext cx="132588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172200" y="1033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F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LanguageContext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172200" y="13075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AsyncStorage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7424928" y="11887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A4C4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580376" y="987552"/>
            <a:ext cx="1325880" cy="777240"/>
          </a:xfrm>
          <a:prstGeom prst="rect">
            <a:avLst/>
          </a:prstGeom>
          <a:solidFill>
            <a:srgbClr val="1122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580376" y="987552"/>
            <a:ext cx="132588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653528" y="1033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F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useTranslation()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653528" y="13075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used by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617720" y="1938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617720" y="2194560"/>
            <a:ext cx="4114800" cy="47548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617720" y="2194560"/>
            <a:ext cx="50292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736592" y="22494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overhead — O(1) in-memory dictionary lookup, no API latency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17720" y="2761488"/>
            <a:ext cx="4114800" cy="47548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4617720" y="2761488"/>
            <a:ext cx="5029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736592" y="281635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— selected language restored from AsyncStorage on every app launch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617720" y="3328416"/>
            <a:ext cx="4114800" cy="47548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617720" y="3328416"/>
            <a:ext cx="5029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736592" y="33832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— adding a 5th language requires only one new dictionary object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617720" y="3895344"/>
            <a:ext cx="4114800" cy="47548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4617720" y="3895344"/>
            <a:ext cx="502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4736592" y="395020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— LanguageCode union type prevents invalid language values at compile time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617720" y="4462272"/>
            <a:ext cx="4114800" cy="47548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617720" y="4462272"/>
            <a:ext cx="50292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736592" y="451713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— no external npm dependency, no internet, no API cost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C81295F-DE1E-9E6C-6CB0-D4272EE4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" y="3630169"/>
            <a:ext cx="3749040" cy="763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2: Text-to-Speech (TTS)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0698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"Read Aloud" toggle button on every Activity Detail screen. When pressed, expo-speech reads the complete activity content aloud — title, short description, grade level, time estimate, topic tags, and all instructional sections. The button becomes "Stop Reading" while active. Speech stops automatically when navigating away.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1122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201168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Read Aloud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057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pressed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88920" y="201168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43784" y="201168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Stop Reading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50592"/>
            <a:ext cx="2560320" cy="274320"/>
          </a:xfrm>
          <a:prstGeom prst="rect">
            <a:avLst/>
          </a:prstGeom>
          <a:solidFill>
            <a:srgbClr val="070F1A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5029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expo-speech  ~14.0.8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712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IS NEEDED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3191256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dyslexia or reading difficulties face barriers with text-heavy instructions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impairments — audio becomes the primary interface for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EAL learners benefit from hearing content spoken while reading it simultaneously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68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use: listen to instructions while physically preparing activity materials</a:t>
            </a:r>
            <a:endParaRPr lang="en-US" sz="1050" dirty="0">
              <a:solidFill>
                <a:srgbClr val="668AA7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05856" y="819302"/>
            <a:ext cx="2683764" cy="4016046"/>
          </a:xfrm>
          <a:prstGeom prst="rect">
            <a:avLst/>
          </a:prstGeom>
          <a:solidFill>
            <a:srgbClr val="0C1E30"/>
          </a:solidFill>
          <a:ln w="1905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78424" y="777240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78424" y="777240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5880" y="777240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05336" y="777240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68112" y="245059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6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SCREENSHOT HERE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9552" y="2779776"/>
            <a:ext cx="2990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Detail screen showing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Aloud" button below the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description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(Earthquake-Resistant Structure)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E7A40E0-97E8-304C-0487-32B168817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77" b="18244"/>
          <a:stretch>
            <a:fillRect/>
          </a:stretch>
        </p:blipFill>
        <p:spPr>
          <a:xfrm>
            <a:off x="5806440" y="919200"/>
            <a:ext cx="2507456" cy="3830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2: Installation &amp; How It Works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LANGUAGE-TO-LOCALE MAPPING</a:t>
            </a:r>
            <a:endParaRPr lang="en-US" sz="750" dirty="0"/>
          </a:p>
        </p:txBody>
      </p:sp>
      <p:pic>
        <p:nvPicPr>
          <p:cNvPr id="7" name="Image 0" descr="/sessions/fervent-tender-ptolemy/mnt/outputs/code_imgs/s06_co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39776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482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 PLAYBACK</a:t>
            </a:r>
            <a:endParaRPr lang="en-US" sz="750" dirty="0"/>
          </a:p>
        </p:txBody>
      </p:sp>
      <p:pic>
        <p:nvPicPr>
          <p:cNvPr id="9" name="Image 1" descr="/sessions/fervent-tender-ptolemy/mnt/outputs/code_imgs/s06_co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49424"/>
            <a:ext cx="3977640" cy="1389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37307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AUTO-STOP ON NAVIGATION</a:t>
            </a:r>
            <a:endParaRPr lang="en-US" sz="750" dirty="0"/>
          </a:p>
        </p:txBody>
      </p:sp>
      <p:pic>
        <p:nvPicPr>
          <p:cNvPr id="11" name="Image 2" descr="/sessions/fervent-tender-ptolemy/mnt/outputs/code_imgs/s06_cod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31920"/>
            <a:ext cx="3977640" cy="914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749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BEHAVIOURS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663440" y="978408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663440" y="978408"/>
            <a:ext cx="4069080" cy="4389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663440" y="978408"/>
            <a:ext cx="5029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782312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Language-aware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82312" y="13258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 whichever language is selected in Settings. Locale automatically updated from SPEECH_LOCALES map — no extra configuration.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63440" y="1961833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663440" y="1961833"/>
            <a:ext cx="40690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63440" y="1961833"/>
            <a:ext cx="502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782312" y="2034985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Auto-stop on navigation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82312" y="2309305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stops on screen blur event and component unmount. No memory leaks, no audio continuing in the background.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2933456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63440" y="2933456"/>
            <a:ext cx="4069080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663440" y="2933456"/>
            <a:ext cx="5029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82312" y="3006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Toggle control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82312" y="32809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button starts and stops reading. isSpeaking state prevents duplicate speech instances being spawned.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663440" y="3899185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663440" y="3899185"/>
            <a:ext cx="4069080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663440" y="3899185"/>
            <a:ext cx="5029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82312" y="3972337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on-device privacy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782312" y="4246657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microphone accessed. No audio recorded or transmitted. Uses iOS AVSpeechSynthesizer / Android TextToSpeech natively.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3: Performance Charts &amp; Graphs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0698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BarChart at the top of the History screen, controlled by filter chips. Two display modes: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499616"/>
            <a:ext cx="2304288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0B981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499616"/>
            <a:ext cx="2304288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 per activity — shows total attempt count. See which activities the team has engaged with most at a glance.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62072" y="1499616"/>
            <a:ext cx="2304288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3B82F6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62072" y="1499616"/>
            <a:ext cx="2304288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53512" y="15544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PER-ACTIVITY MODE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53512" y="181051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results for a selected activity in chronological order — reveals whether performance is improving over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70048"/>
            <a:ext cx="3200400" cy="274320"/>
          </a:xfrm>
          <a:prstGeom prst="rect">
            <a:avLst/>
          </a:prstGeom>
          <a:solidFill>
            <a:srgbClr val="070F1A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670048"/>
            <a:ext cx="50292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react-native-gifted-charts  ^1.4.76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IS NEEDED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419856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visual feedback, students cannot see whether they are actually improving over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list of results requires mental effort — a chart makes trends instantly obvious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reaction time dropping from 350ms to 188ms across 5 attempts is immediately visible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use overview mode to assess team engagement across all activities at a glance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26034" y="856270"/>
            <a:ext cx="2743200" cy="4011474"/>
          </a:xfrm>
          <a:prstGeom prst="rect">
            <a:avLst/>
          </a:prstGeom>
          <a:solidFill>
            <a:srgbClr val="0C1E30"/>
          </a:solidFill>
          <a:ln w="1905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75742" y="810550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75742" y="810550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66760" y="819694"/>
            <a:ext cx="25603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86216" y="819694"/>
            <a:ext cx="36576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67BCDFE-3CC6-4797-9538-C46996D2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" b="24089"/>
          <a:stretch>
            <a:fillRect/>
          </a:stretch>
        </p:blipFill>
        <p:spPr>
          <a:xfrm>
            <a:off x="5935762" y="943138"/>
            <a:ext cx="2546247" cy="3831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3: Installation &amp; How It Works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ALL-ACTIVITIES MODE — attempt frequency</a:t>
            </a:r>
            <a:endParaRPr lang="en-US" sz="750" dirty="0"/>
          </a:p>
        </p:txBody>
      </p:sp>
      <p:pic>
        <p:nvPicPr>
          <p:cNvPr id="7" name="Image 0" descr="/sessions/fervent-tender-ptolemy/mnt/outputs/code_imgs/s08_co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3977640" cy="1078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1214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PER-ACTIVITY MODE — last 10 results</a:t>
            </a:r>
            <a:endParaRPr lang="en-US" sz="750" dirty="0"/>
          </a:p>
        </p:txBody>
      </p:sp>
      <p:pic>
        <p:nvPicPr>
          <p:cNvPr id="9" name="Image 1" descr="/sessions/fervent-tender-ptolemy/mnt/outputs/code_imgs/s08_co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22576"/>
            <a:ext cx="3977640" cy="12618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3657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BARCHART COMPONENT</a:t>
            </a:r>
            <a:endParaRPr lang="en-US" sz="750" dirty="0"/>
          </a:p>
        </p:txBody>
      </p:sp>
      <p:pic>
        <p:nvPicPr>
          <p:cNvPr id="11" name="Image 2" descr="/sessions/fervent-tender-ptolemy/mnt/outputs/code_imgs/s08_cod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58768"/>
            <a:ext cx="3977640" cy="9875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749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7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663440" y="978408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663440" y="978408"/>
            <a:ext cx="4069080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663440" y="978408"/>
            <a:ext cx="5029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782312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Animated bars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82312" y="13258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native driver animations on chart load — hardware-accelerated and smooth on mid-range devices.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63440" y="1949445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663440" y="1949445"/>
            <a:ext cx="4069080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63440" y="1949445"/>
            <a:ext cx="5029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782312" y="2022597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 &amp; theme aware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82312" y="2296917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colour, axis labels, grid lines drawn from ThemeContext — automatically adapts between light and dark mode.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2920479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63440" y="2920479"/>
            <a:ext cx="4069080" cy="4389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663440" y="2920479"/>
            <a:ext cx="5029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82312" y="2993631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responsive layout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82312" y="3267951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adjustToWidth fills available screen width. Spacing dynamically computed. Works on all phone sizes.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663440" y="3897411"/>
            <a:ext cx="4069080" cy="914400"/>
          </a:xfrm>
          <a:prstGeom prst="rect">
            <a:avLst/>
          </a:prstGeom>
          <a:solidFill>
            <a:srgbClr val="112235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663440" y="3897411"/>
            <a:ext cx="40690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663440" y="3897411"/>
            <a:ext cx="502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82312" y="3970563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useMemo optimised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782312" y="4244883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only recomputes when results or activeFilter change — prevents unnecessary re-renders.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FEASIBILITY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1069848"/>
            <a:ext cx="8321040" cy="65836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69848"/>
            <a:ext cx="5029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161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133856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feasible — no external API or network dependency. Custom dictionary scales linearly; adding a language is one new object in translations.ts. Limitation: translation quality depends on the manual translator.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819656"/>
            <a:ext cx="8321040" cy="65836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819656"/>
            <a:ext cx="5029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9110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883664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expo-speech wraps native OS APIs (iOS AVSpeechSynthesizer, Android TextToSpeech) with no extra permissions required. Limitation: Arabic and Chinese voice quality depends on device language packs being installed.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69464"/>
            <a:ext cx="8321040" cy="658368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569464"/>
            <a:ext cx="502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660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633472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react-native-gifted-charts is actively maintained (2,800+ GitHub stars) and uses React Native's native driver for animations. Limitation: First SVG render may show a slight delay on very low-end Android devices.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2286000" cy="246888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COMPATIBILITY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3639312"/>
            <a:ext cx="2651760" cy="1234440"/>
          </a:xfrm>
          <a:prstGeom prst="rect">
            <a:avLst/>
          </a:prstGeom>
          <a:solidFill>
            <a:srgbClr val="112235"/>
          </a:solidFill>
          <a:ln w="12700">
            <a:solidFill>
              <a:srgbClr val="3B82F6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639312"/>
            <a:ext cx="265176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36941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" y="3959352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 — O(1) in-memory lookup. Works on iOS, Android, and Web. No latency, no bundle size increase.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639312"/>
            <a:ext cx="2651760" cy="1234440"/>
          </a:xfrm>
          <a:prstGeom prst="rect">
            <a:avLst/>
          </a:prstGeom>
          <a:solidFill>
            <a:srgbClr val="112235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3639312"/>
            <a:ext cx="265176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0128" y="36941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0128" y="3959352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async — runs on native thread, never blocks JS or UI thread. Properly released on unmount — no memory leaks.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3639312"/>
            <a:ext cx="2651760" cy="1234440"/>
          </a:xfrm>
          <a:prstGeom prst="rect">
            <a:avLst/>
          </a:prstGeom>
          <a:solidFill>
            <a:srgbClr val="112235"/>
          </a:solidFill>
          <a:ln w="12700">
            <a:solidFill>
              <a:srgbClr val="10B981"/>
            </a:solidFill>
            <a:prstDash val="solid"/>
          </a:ln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89320" y="3639312"/>
            <a:ext cx="265176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99048" y="36941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99048" y="3959352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animations. useMemo prevents unnecessary re-renders. Responsive to screen width via adjustToWidth.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Analysis — Accessibility, Privacy &amp; Verdict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9224"/>
            <a:ext cx="8321040" cy="14630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9401" y="768096"/>
            <a:ext cx="22860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75121" y="768096"/>
            <a:ext cx="2198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87087" y="768096"/>
            <a:ext cx="23774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2807" y="768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21456" y="768096"/>
            <a:ext cx="22860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7176" y="768096"/>
            <a:ext cx="2198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9965" y="1051560"/>
            <a:ext cx="969264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9965" y="135331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9965" y="2103120"/>
            <a:ext cx="969264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9965" y="240487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29401" y="1051560"/>
            <a:ext cx="228600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29401" y="105156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20841" y="1143000"/>
            <a:ext cx="21101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language barriers for EAL students in diverse Australian schools — directly serves the app's target demographic.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87087" y="1051560"/>
            <a:ext cx="237744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87087" y="1051560"/>
            <a:ext cx="23774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8527" y="1143000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dyslexia, reading difficulties, EAL learners, and visual impairments. Aligns with WCAG 2.1 Guideline 1.1.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21456" y="1051560"/>
            <a:ext cx="228600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21456" y="10515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2896" y="1143000"/>
            <a:ext cx="21101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trends complemented by the text list below. Font scale accessibility settings apply to all chart labels.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29401" y="2103120"/>
            <a:ext cx="228600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529401" y="210312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20841" y="2194560"/>
            <a:ext cx="21101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sent externally. Language preference stored locally via AsyncStorage only. Zero network calls.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87087" y="2103120"/>
            <a:ext cx="237744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87087" y="2103120"/>
            <a:ext cx="23774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78527" y="2194560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on-device. No audio recorded or transmitted. Microphone never accessed.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21456" y="2103120"/>
            <a:ext cx="2286000" cy="1005840"/>
          </a:xfrm>
          <a:prstGeom prst="rect">
            <a:avLst/>
          </a:prstGeom>
          <a:solidFill>
            <a:srgbClr val="112235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21456" y="210312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2896" y="2194560"/>
            <a:ext cx="21101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from locally stored results only. No analytics, tracking, or external reporting of any kind.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218688"/>
            <a:ext cx="8321040" cy="20117"/>
          </a:xfrm>
          <a:prstGeom prst="rect">
            <a:avLst/>
          </a:prstGeom>
          <a:solidFill>
            <a:srgbClr val="1B3252"/>
          </a:solidFill>
          <a:ln w="12700">
            <a:solidFill>
              <a:srgbClr val="1B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54694" y="3291840"/>
            <a:ext cx="2743200" cy="246888"/>
          </a:xfrm>
          <a:prstGeom prst="roundRect">
            <a:avLst>
              <a:gd name="adj" fmla="val 1481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200414" y="32918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VERDICT — INCLUDE IN FINAL APP?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3630168"/>
            <a:ext cx="2651760" cy="1234440"/>
          </a:xfrm>
          <a:prstGeom prst="rect">
            <a:avLst/>
          </a:prstGeom>
          <a:solidFill>
            <a:srgbClr val="112235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1480" y="3630168"/>
            <a:ext cx="265176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3675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INCLUDE IN FINAL APP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39136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416966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inclusivity in a multicultural school demographic. Zero cost, no dependency.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0" y="3630168"/>
            <a:ext cx="2651760" cy="1234440"/>
          </a:xfrm>
          <a:prstGeom prst="rect">
            <a:avLst/>
          </a:prstGeom>
          <a:solidFill>
            <a:srgbClr val="112235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0" y="3630168"/>
            <a:ext cx="265176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0" y="3675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INCLUDE IN FINAL APP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91840" y="39136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91840" y="416966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accessibility value. Hands-free benefit during real-world activities. 100% on-device.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89320" y="3630168"/>
            <a:ext cx="2651760" cy="1234440"/>
          </a:xfrm>
          <a:prstGeom prst="rect">
            <a:avLst/>
          </a:prstGeom>
          <a:solidFill>
            <a:srgbClr val="112235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89320" y="3630168"/>
            <a:ext cx="265176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80760" y="3675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INCLUDE IN FINAL APP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80760" y="39136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080760" y="416966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enhances learning feedback and tracks student improvement over time.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1310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DejaVu Sans Mono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STEMMLab — New Feature Analysis</dc:title>
  <dc:subject>PptxGenJS Presentation</dc:subject>
  <dc:creator>Saiful Islam Shihab</dc:creator>
  <cp:lastModifiedBy>SAIFUL ISLAM SHIHAB</cp:lastModifiedBy>
  <cp:revision>6</cp:revision>
  <dcterms:created xsi:type="dcterms:W3CDTF">2026-05-02T15:01:46Z</dcterms:created>
  <dcterms:modified xsi:type="dcterms:W3CDTF">2026-05-02T16:18:37Z</dcterms:modified>
</cp:coreProperties>
</file>